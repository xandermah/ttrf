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63" r:id="rId3"/>
    <p:sldId id="258" r:id="rId4"/>
    <p:sldId id="265" r:id="rId5"/>
    <p:sldId id="266" r:id="rId6"/>
    <p:sldId id="264" r:id="rId7"/>
    <p:sldId id="257" r:id="rId8"/>
    <p:sldId id="260" r:id="rId9"/>
    <p:sldId id="267" r:id="rId10"/>
    <p:sldId id="269" r:id="rId11"/>
    <p:sldId id="259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AD9"/>
    <a:srgbClr val="FFC0F7"/>
    <a:srgbClr val="A9CCF9"/>
    <a:srgbClr val="A2C3FF"/>
    <a:srgbClr val="A6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19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976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15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906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07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61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83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30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29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64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92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36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9CCF9">
                <a:lumMod val="0"/>
                <a:alpha val="25869"/>
              </a:srgbClr>
            </a:gs>
            <a:gs pos="100000">
              <a:srgbClr val="FFBAD9">
                <a:alpha val="63152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02C75C2-4164-FD4C-A849-68F1DA84B00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ED7168D-EA80-EA40-9698-D055E0C10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7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podmoskovye.bezformata.com/listnews/himkah-organizuyut/153437743/" TargetMode="External"/><Relationship Id="rId3" Type="http://schemas.openxmlformats.org/officeDocument/2006/relationships/hyperlink" Target="https://himki-gazeta.ru/?module=articles&amp;action=view&amp;id=26464" TargetMode="External"/><Relationship Id="rId7" Type="http://schemas.openxmlformats.org/officeDocument/2006/relationships/hyperlink" Target="https://himki.bezformata.com/listnews/nastolnogo-tennisa/153557527/" TargetMode="External"/><Relationship Id="rId12" Type="http://schemas.openxmlformats.org/officeDocument/2006/relationships/hyperlink" Target="https://himki-24.ru/zvezdy-sporta-priehali-podderjat-ychastnikov-festivalia-nastolnogo-tennisa/" TargetMode="External"/><Relationship Id="rId2" Type="http://schemas.openxmlformats.org/officeDocument/2006/relationships/hyperlink" Target="https://admhimki.ru/novosti/:id75809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news-balashiha.ru/society/2025/11/19/285353.html" TargetMode="External"/><Relationship Id="rId11" Type="http://schemas.openxmlformats.org/officeDocument/2006/relationships/hyperlink" Target="https://himki-24.ru/ot-raketki-do-medali-kak-himki-stanoviatsia-stolicei-nastolnogo-tennisa-podmoskovia/" TargetMode="External"/><Relationship Id="rId5" Type="http://schemas.openxmlformats.org/officeDocument/2006/relationships/hyperlink" Target="https://himki.bezformata.com/listnews/nastolnogo-tennisa/153351341/" TargetMode="External"/><Relationship Id="rId10" Type="http://schemas.openxmlformats.org/officeDocument/2006/relationships/hyperlink" Target="https://myseldon.com/ru/news/index/338106910" TargetMode="External"/><Relationship Id="rId4" Type="http://schemas.openxmlformats.org/officeDocument/2006/relationships/hyperlink" Target="https://pro-himki.ru/news/0267491-v-himkah-projdyot-festival-nastolnogo-tennisa" TargetMode="External"/><Relationship Id="rId9" Type="http://schemas.openxmlformats.org/officeDocument/2006/relationships/hyperlink" Target="https://myseldon.com/ru/news/index/338164485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abankmo.ru/blog.php?idinfo=86335" TargetMode="External"/><Relationship Id="rId3" Type="http://schemas.openxmlformats.org/officeDocument/2006/relationships/hyperlink" Target="https://riamo.ru/news/sport/v-himkah-projdet-festival-nastolnogo-tennisa/" TargetMode="External"/><Relationship Id="rId7" Type="http://schemas.openxmlformats.org/officeDocument/2006/relationships/hyperlink" Target="https://regions.ru/khimki/fizicheskaya-kultura-i-sport/zvezdy-sporta-priehali-podderzhat-uchastnikov-festivalya-nastolnogo-tennisa" TargetMode="External"/><Relationship Id="rId2" Type="http://schemas.openxmlformats.org/officeDocument/2006/relationships/hyperlink" Target="https://riamo.ru/news/transport/v-himkah-otkrojut-bazu-dlja-trenirovok-sbornoj-podmoskovja-po-nastolnomu-tennisu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regions.ru/khimki/fizicheskaya-kultura-i-sport/ot-raketki-do-medali-kak-himki-stanovyatsya-stolitsey-nastolnogo-tennisa-podmoskovya" TargetMode="External"/><Relationship Id="rId5" Type="http://schemas.openxmlformats.org/officeDocument/2006/relationships/hyperlink" Target="https://mosregtoday.ru/news/ofitsialno/v-podmoskovnyh-himkah-organizujut-festival-nastolnogo-tennisa/" TargetMode="External"/><Relationship Id="rId4" Type="http://schemas.openxmlformats.org/officeDocument/2006/relationships/hyperlink" Target="https://360.ru/news/mosobl/festival-nastolnogo-tennisa-projdet-v-himkah-22-nojabrja/" TargetMode="External"/><Relationship Id="rId9" Type="http://schemas.openxmlformats.org/officeDocument/2006/relationships/hyperlink" Target="https://mediabankmo.ru/blog.php?idinfo=86329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mosregtoday.ru/news/ofitsialno/v-podmoskovnyh-himkah-proveli-festival-nastolnogo-tennisa/" TargetMode="External"/><Relationship Id="rId3" Type="http://schemas.openxmlformats.org/officeDocument/2006/relationships/hyperlink" Target="https://radio1.ru/news/podmoskove/2000-chelovek-prisoedinilis-k-festivalyu-nastolnogo-tennisa-v-mege-himki/" TargetMode="External"/><Relationship Id="rId7" Type="http://schemas.openxmlformats.org/officeDocument/2006/relationships/hyperlink" Target="https://moscow.media/himki/415848815/" TargetMode="External"/><Relationship Id="rId2" Type="http://schemas.openxmlformats.org/officeDocument/2006/relationships/hyperlink" Target="https://ttfr.ru/news/357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riamo.ru/news/sport/bolee-2-tys-gostej-sobral-festival-nastolnogo-tennisa-v-himkah/" TargetMode="External"/><Relationship Id="rId5" Type="http://schemas.openxmlformats.org/officeDocument/2006/relationships/hyperlink" Target="https://sportvmoskve.ru/news/20251125-festival-nastolnogo-tennisa-sobral-bolee-2000-chelovek-v-mege-himki/" TargetMode="External"/><Relationship Id="rId10" Type="http://schemas.openxmlformats.org/officeDocument/2006/relationships/hyperlink" Target="https://www.mk.ru/mosobl/2025/11/26/v-podmoskove-proshel-festival-nastolnogo-tennisa-v-ramkakh-programmy-sport-rossii.html" TargetMode="External"/><Relationship Id="rId4" Type="http://schemas.openxmlformats.org/officeDocument/2006/relationships/hyperlink" Target="https://regions.ru/khimki/fizicheskaya-kultura-i-sport/master-klassy-i-lyubitelskie-turniry-v-mege-himki-festival-nastolnogo-tennisa-sobral-tysyachi-gostey" TargetMode="External"/><Relationship Id="rId9" Type="http://schemas.openxmlformats.org/officeDocument/2006/relationships/hyperlink" Target="https://podmoskovye.bezformata.com/listnews/nastolnogo-tennisa/153677098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ia-rf.ru/news/sport/113896" TargetMode="External"/><Relationship Id="rId2" Type="http://schemas.openxmlformats.org/officeDocument/2006/relationships/hyperlink" Target="https://himki-logach.ru/obshchestvo/v-podmoskove-proshel-festival-nastolnogo-tennisa-v-ramkah-programmy-sport-rossii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360.ru/news/mosobl/bolee-2-tysjach-chelovek-posetili-festival-nastolnogo-tennisa-v-himkah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zen.ru/a/aSWFI1JLY2cMuKLw" TargetMode="External"/><Relationship Id="rId2" Type="http://schemas.openxmlformats.org/officeDocument/2006/relationships/hyperlink" Target="http://vk.com/wall-224213230_29988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zen.ru/a/aSWIZVJLY2cMuUS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elegram.me/c/2287081879/2552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elegram.me/mega_khimki_life/6150" TargetMode="External"/><Relationship Id="rId7" Type="http://schemas.openxmlformats.org/officeDocument/2006/relationships/hyperlink" Target="http://vk.com/wall-169362676_645" TargetMode="External"/><Relationship Id="rId2" Type="http://schemas.openxmlformats.org/officeDocument/2006/relationships/hyperlink" Target="http://vk.com/wall-12806002_2676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imki.bezformata.com/listnews/nastolnogo-tennisa/153649130/" TargetMode="External"/><Relationship Id="rId5" Type="http://schemas.openxmlformats.org/officeDocument/2006/relationships/hyperlink" Target="https://himki-24.ru/master-klassy-i-lubitelskie-tyrniry-v-mege-himki-festival-nastolnogo-tennisa-sobral-tysiachi-gostei/" TargetMode="External"/><Relationship Id="rId4" Type="http://schemas.openxmlformats.org/officeDocument/2006/relationships/hyperlink" Target="http://vk.com/wall-123743593_217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D6785-E372-F9FA-148C-2B20BF8E1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991600"/>
                      <a:gd name="connsiteY0" fmla="*/ 0 h 1645920"/>
                      <a:gd name="connsiteX1" fmla="*/ 329692 w 8991600"/>
                      <a:gd name="connsiteY1" fmla="*/ 0 h 1645920"/>
                      <a:gd name="connsiteX2" fmla="*/ 1019048 w 8991600"/>
                      <a:gd name="connsiteY2" fmla="*/ 0 h 1645920"/>
                      <a:gd name="connsiteX3" fmla="*/ 1348740 w 8991600"/>
                      <a:gd name="connsiteY3" fmla="*/ 0 h 1645920"/>
                      <a:gd name="connsiteX4" fmla="*/ 1678432 w 8991600"/>
                      <a:gd name="connsiteY4" fmla="*/ 0 h 1645920"/>
                      <a:gd name="connsiteX5" fmla="*/ 2457704 w 8991600"/>
                      <a:gd name="connsiteY5" fmla="*/ 0 h 1645920"/>
                      <a:gd name="connsiteX6" fmla="*/ 3057144 w 8991600"/>
                      <a:gd name="connsiteY6" fmla="*/ 0 h 1645920"/>
                      <a:gd name="connsiteX7" fmla="*/ 3386836 w 8991600"/>
                      <a:gd name="connsiteY7" fmla="*/ 0 h 1645920"/>
                      <a:gd name="connsiteX8" fmla="*/ 3986276 w 8991600"/>
                      <a:gd name="connsiteY8" fmla="*/ 0 h 1645920"/>
                      <a:gd name="connsiteX9" fmla="*/ 4765548 w 8991600"/>
                      <a:gd name="connsiteY9" fmla="*/ 0 h 1645920"/>
                      <a:gd name="connsiteX10" fmla="*/ 5275072 w 8991600"/>
                      <a:gd name="connsiteY10" fmla="*/ 0 h 1645920"/>
                      <a:gd name="connsiteX11" fmla="*/ 5784596 w 8991600"/>
                      <a:gd name="connsiteY11" fmla="*/ 0 h 1645920"/>
                      <a:gd name="connsiteX12" fmla="*/ 6384036 w 8991600"/>
                      <a:gd name="connsiteY12" fmla="*/ 0 h 1645920"/>
                      <a:gd name="connsiteX13" fmla="*/ 7073392 w 8991600"/>
                      <a:gd name="connsiteY13" fmla="*/ 0 h 1645920"/>
                      <a:gd name="connsiteX14" fmla="*/ 7762748 w 8991600"/>
                      <a:gd name="connsiteY14" fmla="*/ 0 h 1645920"/>
                      <a:gd name="connsiteX15" fmla="*/ 8452104 w 8991600"/>
                      <a:gd name="connsiteY15" fmla="*/ 0 h 1645920"/>
                      <a:gd name="connsiteX16" fmla="*/ 8991600 w 8991600"/>
                      <a:gd name="connsiteY16" fmla="*/ 0 h 1645920"/>
                      <a:gd name="connsiteX17" fmla="*/ 8991600 w 8991600"/>
                      <a:gd name="connsiteY17" fmla="*/ 548640 h 1645920"/>
                      <a:gd name="connsiteX18" fmla="*/ 8991600 w 8991600"/>
                      <a:gd name="connsiteY18" fmla="*/ 1097280 h 1645920"/>
                      <a:gd name="connsiteX19" fmla="*/ 8991600 w 8991600"/>
                      <a:gd name="connsiteY19" fmla="*/ 1645920 h 1645920"/>
                      <a:gd name="connsiteX20" fmla="*/ 8212328 w 8991600"/>
                      <a:gd name="connsiteY20" fmla="*/ 1645920 h 1645920"/>
                      <a:gd name="connsiteX21" fmla="*/ 7612888 w 8991600"/>
                      <a:gd name="connsiteY21" fmla="*/ 1645920 h 1645920"/>
                      <a:gd name="connsiteX22" fmla="*/ 7103364 w 8991600"/>
                      <a:gd name="connsiteY22" fmla="*/ 1645920 h 1645920"/>
                      <a:gd name="connsiteX23" fmla="*/ 6593840 w 8991600"/>
                      <a:gd name="connsiteY23" fmla="*/ 1645920 h 1645920"/>
                      <a:gd name="connsiteX24" fmla="*/ 6084316 w 8991600"/>
                      <a:gd name="connsiteY24" fmla="*/ 1645920 h 1645920"/>
                      <a:gd name="connsiteX25" fmla="*/ 5574792 w 8991600"/>
                      <a:gd name="connsiteY25" fmla="*/ 1645920 h 1645920"/>
                      <a:gd name="connsiteX26" fmla="*/ 4885436 w 8991600"/>
                      <a:gd name="connsiteY26" fmla="*/ 1645920 h 1645920"/>
                      <a:gd name="connsiteX27" fmla="*/ 4285996 w 8991600"/>
                      <a:gd name="connsiteY27" fmla="*/ 1645920 h 1645920"/>
                      <a:gd name="connsiteX28" fmla="*/ 3956304 w 8991600"/>
                      <a:gd name="connsiteY28" fmla="*/ 1645920 h 1645920"/>
                      <a:gd name="connsiteX29" fmla="*/ 3446780 w 8991600"/>
                      <a:gd name="connsiteY29" fmla="*/ 1645920 h 1645920"/>
                      <a:gd name="connsiteX30" fmla="*/ 2757424 w 8991600"/>
                      <a:gd name="connsiteY30" fmla="*/ 1645920 h 1645920"/>
                      <a:gd name="connsiteX31" fmla="*/ 2337816 w 8991600"/>
                      <a:gd name="connsiteY31" fmla="*/ 1645920 h 1645920"/>
                      <a:gd name="connsiteX32" fmla="*/ 1558544 w 8991600"/>
                      <a:gd name="connsiteY32" fmla="*/ 1645920 h 1645920"/>
                      <a:gd name="connsiteX33" fmla="*/ 779272 w 8991600"/>
                      <a:gd name="connsiteY33" fmla="*/ 1645920 h 1645920"/>
                      <a:gd name="connsiteX34" fmla="*/ 0 w 8991600"/>
                      <a:gd name="connsiteY34" fmla="*/ 1645920 h 1645920"/>
                      <a:gd name="connsiteX35" fmla="*/ 0 w 8991600"/>
                      <a:gd name="connsiteY35" fmla="*/ 1064362 h 1645920"/>
                      <a:gd name="connsiteX36" fmla="*/ 0 w 8991600"/>
                      <a:gd name="connsiteY36" fmla="*/ 515722 h 1645920"/>
                      <a:gd name="connsiteX37" fmla="*/ 0 w 8991600"/>
                      <a:gd name="connsiteY37" fmla="*/ 0 h 16459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8991600" h="1645920" fill="none" extrusionOk="0">
                        <a:moveTo>
                          <a:pt x="0" y="0"/>
                        </a:moveTo>
                        <a:cubicBezTo>
                          <a:pt x="162653" y="-28412"/>
                          <a:pt x="184683" y="6737"/>
                          <a:pt x="329692" y="0"/>
                        </a:cubicBezTo>
                        <a:cubicBezTo>
                          <a:pt x="474701" y="-6737"/>
                          <a:pt x="751516" y="63560"/>
                          <a:pt x="1019048" y="0"/>
                        </a:cubicBezTo>
                        <a:cubicBezTo>
                          <a:pt x="1286580" y="-63560"/>
                          <a:pt x="1235575" y="34539"/>
                          <a:pt x="1348740" y="0"/>
                        </a:cubicBezTo>
                        <a:cubicBezTo>
                          <a:pt x="1461905" y="-34539"/>
                          <a:pt x="1601877" y="22716"/>
                          <a:pt x="1678432" y="0"/>
                        </a:cubicBezTo>
                        <a:cubicBezTo>
                          <a:pt x="1754987" y="-22716"/>
                          <a:pt x="2250030" y="68723"/>
                          <a:pt x="2457704" y="0"/>
                        </a:cubicBezTo>
                        <a:cubicBezTo>
                          <a:pt x="2665378" y="-68723"/>
                          <a:pt x="2874729" y="14779"/>
                          <a:pt x="3057144" y="0"/>
                        </a:cubicBezTo>
                        <a:cubicBezTo>
                          <a:pt x="3239559" y="-14779"/>
                          <a:pt x="3299181" y="38690"/>
                          <a:pt x="3386836" y="0"/>
                        </a:cubicBezTo>
                        <a:cubicBezTo>
                          <a:pt x="3474491" y="-38690"/>
                          <a:pt x="3835985" y="24669"/>
                          <a:pt x="3986276" y="0"/>
                        </a:cubicBezTo>
                        <a:cubicBezTo>
                          <a:pt x="4136567" y="-24669"/>
                          <a:pt x="4512494" y="15180"/>
                          <a:pt x="4765548" y="0"/>
                        </a:cubicBezTo>
                        <a:cubicBezTo>
                          <a:pt x="5018602" y="-15180"/>
                          <a:pt x="5058349" y="19908"/>
                          <a:pt x="5275072" y="0"/>
                        </a:cubicBezTo>
                        <a:cubicBezTo>
                          <a:pt x="5491795" y="-19908"/>
                          <a:pt x="5678380" y="472"/>
                          <a:pt x="5784596" y="0"/>
                        </a:cubicBezTo>
                        <a:cubicBezTo>
                          <a:pt x="5890812" y="-472"/>
                          <a:pt x="6106393" y="21672"/>
                          <a:pt x="6384036" y="0"/>
                        </a:cubicBezTo>
                        <a:cubicBezTo>
                          <a:pt x="6661679" y="-21672"/>
                          <a:pt x="6785317" y="42761"/>
                          <a:pt x="7073392" y="0"/>
                        </a:cubicBezTo>
                        <a:cubicBezTo>
                          <a:pt x="7361467" y="-42761"/>
                          <a:pt x="7503443" y="80955"/>
                          <a:pt x="7762748" y="0"/>
                        </a:cubicBezTo>
                        <a:cubicBezTo>
                          <a:pt x="8022053" y="-80955"/>
                          <a:pt x="8231099" y="60894"/>
                          <a:pt x="8452104" y="0"/>
                        </a:cubicBezTo>
                        <a:cubicBezTo>
                          <a:pt x="8673109" y="-60894"/>
                          <a:pt x="8859877" y="25872"/>
                          <a:pt x="8991600" y="0"/>
                        </a:cubicBezTo>
                        <a:cubicBezTo>
                          <a:pt x="9047687" y="123751"/>
                          <a:pt x="8942817" y="396889"/>
                          <a:pt x="8991600" y="548640"/>
                        </a:cubicBezTo>
                        <a:cubicBezTo>
                          <a:pt x="9040383" y="700391"/>
                          <a:pt x="8972040" y="936486"/>
                          <a:pt x="8991600" y="1097280"/>
                        </a:cubicBezTo>
                        <a:cubicBezTo>
                          <a:pt x="9011160" y="1258074"/>
                          <a:pt x="8960573" y="1401136"/>
                          <a:pt x="8991600" y="1645920"/>
                        </a:cubicBezTo>
                        <a:cubicBezTo>
                          <a:pt x="8643266" y="1693888"/>
                          <a:pt x="8377801" y="1577467"/>
                          <a:pt x="8212328" y="1645920"/>
                        </a:cubicBezTo>
                        <a:cubicBezTo>
                          <a:pt x="8046855" y="1714373"/>
                          <a:pt x="7851957" y="1592715"/>
                          <a:pt x="7612888" y="1645920"/>
                        </a:cubicBezTo>
                        <a:cubicBezTo>
                          <a:pt x="7373819" y="1699125"/>
                          <a:pt x="7213773" y="1600648"/>
                          <a:pt x="7103364" y="1645920"/>
                        </a:cubicBezTo>
                        <a:cubicBezTo>
                          <a:pt x="6992955" y="1691192"/>
                          <a:pt x="6766199" y="1593886"/>
                          <a:pt x="6593840" y="1645920"/>
                        </a:cubicBezTo>
                        <a:cubicBezTo>
                          <a:pt x="6421481" y="1697954"/>
                          <a:pt x="6231606" y="1610611"/>
                          <a:pt x="6084316" y="1645920"/>
                        </a:cubicBezTo>
                        <a:cubicBezTo>
                          <a:pt x="5937026" y="1681229"/>
                          <a:pt x="5751049" y="1643373"/>
                          <a:pt x="5574792" y="1645920"/>
                        </a:cubicBezTo>
                        <a:cubicBezTo>
                          <a:pt x="5398535" y="1648467"/>
                          <a:pt x="5105933" y="1626983"/>
                          <a:pt x="4885436" y="1645920"/>
                        </a:cubicBezTo>
                        <a:cubicBezTo>
                          <a:pt x="4664939" y="1664857"/>
                          <a:pt x="4503043" y="1600836"/>
                          <a:pt x="4285996" y="1645920"/>
                        </a:cubicBezTo>
                        <a:cubicBezTo>
                          <a:pt x="4068949" y="1691004"/>
                          <a:pt x="4048129" y="1635491"/>
                          <a:pt x="3956304" y="1645920"/>
                        </a:cubicBezTo>
                        <a:cubicBezTo>
                          <a:pt x="3864479" y="1656349"/>
                          <a:pt x="3582798" y="1588456"/>
                          <a:pt x="3446780" y="1645920"/>
                        </a:cubicBezTo>
                        <a:cubicBezTo>
                          <a:pt x="3310762" y="1703384"/>
                          <a:pt x="2896342" y="1638078"/>
                          <a:pt x="2757424" y="1645920"/>
                        </a:cubicBezTo>
                        <a:cubicBezTo>
                          <a:pt x="2618506" y="1653762"/>
                          <a:pt x="2509380" y="1600433"/>
                          <a:pt x="2337816" y="1645920"/>
                        </a:cubicBezTo>
                        <a:cubicBezTo>
                          <a:pt x="2166252" y="1691407"/>
                          <a:pt x="1818472" y="1643877"/>
                          <a:pt x="1558544" y="1645920"/>
                        </a:cubicBezTo>
                        <a:cubicBezTo>
                          <a:pt x="1298616" y="1647963"/>
                          <a:pt x="994031" y="1624878"/>
                          <a:pt x="779272" y="1645920"/>
                        </a:cubicBezTo>
                        <a:cubicBezTo>
                          <a:pt x="564513" y="1666962"/>
                          <a:pt x="312363" y="1565118"/>
                          <a:pt x="0" y="1645920"/>
                        </a:cubicBezTo>
                        <a:cubicBezTo>
                          <a:pt x="-19280" y="1488049"/>
                          <a:pt x="65618" y="1273304"/>
                          <a:pt x="0" y="1064362"/>
                        </a:cubicBezTo>
                        <a:cubicBezTo>
                          <a:pt x="-65618" y="855420"/>
                          <a:pt x="46802" y="679870"/>
                          <a:pt x="0" y="515722"/>
                        </a:cubicBezTo>
                        <a:cubicBezTo>
                          <a:pt x="-46802" y="351574"/>
                          <a:pt x="591" y="202217"/>
                          <a:pt x="0" y="0"/>
                        </a:cubicBezTo>
                        <a:close/>
                      </a:path>
                      <a:path w="8991600" h="1645920" stroke="0" extrusionOk="0">
                        <a:moveTo>
                          <a:pt x="0" y="0"/>
                        </a:moveTo>
                        <a:cubicBezTo>
                          <a:pt x="221921" y="-54794"/>
                          <a:pt x="291011" y="4510"/>
                          <a:pt x="509524" y="0"/>
                        </a:cubicBezTo>
                        <a:cubicBezTo>
                          <a:pt x="728037" y="-4510"/>
                          <a:pt x="756708" y="1509"/>
                          <a:pt x="839216" y="0"/>
                        </a:cubicBezTo>
                        <a:cubicBezTo>
                          <a:pt x="921724" y="-1509"/>
                          <a:pt x="1369570" y="77538"/>
                          <a:pt x="1618488" y="0"/>
                        </a:cubicBezTo>
                        <a:cubicBezTo>
                          <a:pt x="1867406" y="-77538"/>
                          <a:pt x="1912037" y="50952"/>
                          <a:pt x="2128012" y="0"/>
                        </a:cubicBezTo>
                        <a:cubicBezTo>
                          <a:pt x="2343987" y="-50952"/>
                          <a:pt x="2514660" y="40002"/>
                          <a:pt x="2637536" y="0"/>
                        </a:cubicBezTo>
                        <a:cubicBezTo>
                          <a:pt x="2760412" y="-40002"/>
                          <a:pt x="3038079" y="48483"/>
                          <a:pt x="3416808" y="0"/>
                        </a:cubicBezTo>
                        <a:cubicBezTo>
                          <a:pt x="3795537" y="-48483"/>
                          <a:pt x="3716931" y="34853"/>
                          <a:pt x="3836416" y="0"/>
                        </a:cubicBezTo>
                        <a:cubicBezTo>
                          <a:pt x="3955901" y="-34853"/>
                          <a:pt x="4455161" y="60200"/>
                          <a:pt x="4615688" y="0"/>
                        </a:cubicBezTo>
                        <a:cubicBezTo>
                          <a:pt x="4776215" y="-60200"/>
                          <a:pt x="5056179" y="32930"/>
                          <a:pt x="5394960" y="0"/>
                        </a:cubicBezTo>
                        <a:cubicBezTo>
                          <a:pt x="5733741" y="-32930"/>
                          <a:pt x="5850626" y="9719"/>
                          <a:pt x="5994400" y="0"/>
                        </a:cubicBezTo>
                        <a:cubicBezTo>
                          <a:pt x="6138174" y="-9719"/>
                          <a:pt x="6416195" y="72124"/>
                          <a:pt x="6773672" y="0"/>
                        </a:cubicBezTo>
                        <a:cubicBezTo>
                          <a:pt x="7131149" y="-72124"/>
                          <a:pt x="7177250" y="4743"/>
                          <a:pt x="7283196" y="0"/>
                        </a:cubicBezTo>
                        <a:cubicBezTo>
                          <a:pt x="7389142" y="-4743"/>
                          <a:pt x="7656444" y="40199"/>
                          <a:pt x="7792720" y="0"/>
                        </a:cubicBezTo>
                        <a:cubicBezTo>
                          <a:pt x="7928996" y="-40199"/>
                          <a:pt x="8329270" y="920"/>
                          <a:pt x="8482076" y="0"/>
                        </a:cubicBezTo>
                        <a:cubicBezTo>
                          <a:pt x="8634882" y="-920"/>
                          <a:pt x="8827251" y="44490"/>
                          <a:pt x="8991600" y="0"/>
                        </a:cubicBezTo>
                        <a:cubicBezTo>
                          <a:pt x="8997220" y="126434"/>
                          <a:pt x="8956301" y="407246"/>
                          <a:pt x="8991600" y="581558"/>
                        </a:cubicBezTo>
                        <a:cubicBezTo>
                          <a:pt x="9026899" y="755870"/>
                          <a:pt x="8925175" y="944186"/>
                          <a:pt x="8991600" y="1146658"/>
                        </a:cubicBezTo>
                        <a:cubicBezTo>
                          <a:pt x="9058025" y="1349130"/>
                          <a:pt x="8948617" y="1540951"/>
                          <a:pt x="8991600" y="1645920"/>
                        </a:cubicBezTo>
                        <a:cubicBezTo>
                          <a:pt x="8669727" y="1671573"/>
                          <a:pt x="8492169" y="1611407"/>
                          <a:pt x="8302244" y="1645920"/>
                        </a:cubicBezTo>
                        <a:cubicBezTo>
                          <a:pt x="8112319" y="1680433"/>
                          <a:pt x="7971903" y="1629109"/>
                          <a:pt x="7882636" y="1645920"/>
                        </a:cubicBezTo>
                        <a:cubicBezTo>
                          <a:pt x="7793369" y="1662731"/>
                          <a:pt x="7312456" y="1598415"/>
                          <a:pt x="7103364" y="1645920"/>
                        </a:cubicBezTo>
                        <a:cubicBezTo>
                          <a:pt x="6894272" y="1693425"/>
                          <a:pt x="6626169" y="1616379"/>
                          <a:pt x="6503924" y="1645920"/>
                        </a:cubicBezTo>
                        <a:cubicBezTo>
                          <a:pt x="6381679" y="1675461"/>
                          <a:pt x="6192968" y="1641700"/>
                          <a:pt x="6084316" y="1645920"/>
                        </a:cubicBezTo>
                        <a:cubicBezTo>
                          <a:pt x="5975664" y="1650140"/>
                          <a:pt x="5763262" y="1602435"/>
                          <a:pt x="5484876" y="1645920"/>
                        </a:cubicBezTo>
                        <a:cubicBezTo>
                          <a:pt x="5206490" y="1689405"/>
                          <a:pt x="5253144" y="1607380"/>
                          <a:pt x="5155184" y="1645920"/>
                        </a:cubicBezTo>
                        <a:cubicBezTo>
                          <a:pt x="5057224" y="1684460"/>
                          <a:pt x="4922801" y="1638341"/>
                          <a:pt x="4825492" y="1645920"/>
                        </a:cubicBezTo>
                        <a:cubicBezTo>
                          <a:pt x="4728183" y="1653499"/>
                          <a:pt x="4469442" y="1628230"/>
                          <a:pt x="4226052" y="1645920"/>
                        </a:cubicBezTo>
                        <a:cubicBezTo>
                          <a:pt x="3982662" y="1663610"/>
                          <a:pt x="3908973" y="1610402"/>
                          <a:pt x="3806444" y="1645920"/>
                        </a:cubicBezTo>
                        <a:cubicBezTo>
                          <a:pt x="3703915" y="1681438"/>
                          <a:pt x="3433654" y="1587279"/>
                          <a:pt x="3117088" y="1645920"/>
                        </a:cubicBezTo>
                        <a:cubicBezTo>
                          <a:pt x="2800522" y="1704561"/>
                          <a:pt x="2827879" y="1623422"/>
                          <a:pt x="2697480" y="1645920"/>
                        </a:cubicBezTo>
                        <a:cubicBezTo>
                          <a:pt x="2567081" y="1668418"/>
                          <a:pt x="2269608" y="1571285"/>
                          <a:pt x="2008124" y="1645920"/>
                        </a:cubicBezTo>
                        <a:cubicBezTo>
                          <a:pt x="1746640" y="1720555"/>
                          <a:pt x="1748028" y="1609509"/>
                          <a:pt x="1678432" y="1645920"/>
                        </a:cubicBezTo>
                        <a:cubicBezTo>
                          <a:pt x="1608836" y="1682331"/>
                          <a:pt x="1260504" y="1612625"/>
                          <a:pt x="989076" y="1645920"/>
                        </a:cubicBezTo>
                        <a:cubicBezTo>
                          <a:pt x="717648" y="1679215"/>
                          <a:pt x="767171" y="1641974"/>
                          <a:pt x="569468" y="1645920"/>
                        </a:cubicBezTo>
                        <a:cubicBezTo>
                          <a:pt x="371765" y="1649866"/>
                          <a:pt x="245782" y="1629058"/>
                          <a:pt x="0" y="1645920"/>
                        </a:cubicBezTo>
                        <a:cubicBezTo>
                          <a:pt x="-3985" y="1515880"/>
                          <a:pt x="24432" y="1347563"/>
                          <a:pt x="0" y="1130198"/>
                        </a:cubicBezTo>
                        <a:cubicBezTo>
                          <a:pt x="-24432" y="912833"/>
                          <a:pt x="34203" y="789528"/>
                          <a:pt x="0" y="548640"/>
                        </a:cubicBezTo>
                        <a:cubicBezTo>
                          <a:pt x="-34203" y="307752"/>
                          <a:pt x="16803" y="2126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ru-RU" dirty="0"/>
              <a:t>Дайджест мега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5CA685-988E-D470-A1EB-5357329F1D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Махонина Елизавета</a:t>
            </a:r>
          </a:p>
        </p:txBody>
      </p:sp>
    </p:spTree>
    <p:extLst>
      <p:ext uri="{BB962C8B-B14F-4D97-AF65-F5344CB8AC3E}">
        <p14:creationId xmlns:p14="http://schemas.microsoft.com/office/powerpoint/2010/main" val="208758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56960DC-221F-D9BA-1C2C-8E936EEC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продвижения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573FC-2DF4-4B38-BC0F-87E488135F7C}"/>
              </a:ext>
            </a:extLst>
          </p:cNvPr>
          <p:cNvSpPr txBox="1"/>
          <p:nvPr/>
        </p:nvSpPr>
        <p:spPr>
          <a:xfrm>
            <a:off x="2231136" y="2314575"/>
            <a:ext cx="7729728" cy="258532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ru-RU" dirty="0">
                <a:latin typeface="Helvetica Neue" panose="02000503000000020004" pitchFamily="2" charset="0"/>
              </a:rPr>
              <a:t>Пресс-релиз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ru-RU" dirty="0">
                <a:latin typeface="Helvetica Neue" panose="02000503000000020004" pitchFamily="2" charset="0"/>
              </a:rPr>
              <a:t>Пост-релиз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ru-RU" dirty="0">
                <a:effectLst/>
                <a:latin typeface="Helvetica Neue" panose="02000503000000020004" pitchFamily="2" charset="0"/>
              </a:rPr>
              <a:t>Рассылка по базам СМИ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ru-RU" dirty="0">
                <a:latin typeface="Helvetica Neue" panose="02000503000000020004" pitchFamily="2" charset="0"/>
              </a:rPr>
              <a:t>Нетворкинг: личные договоренности с тремя государственными структурами (Правительство МО, Министерство спорта МО, пресс-служба Химок) – чтобы релизы попали в «Терминал» (база СМИ подмосковного Правительства)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ru-RU" dirty="0">
                <a:effectLst/>
                <a:latin typeface="Helvetica Neue" panose="02000503000000020004" pitchFamily="2" charset="0"/>
              </a:rPr>
              <a:t>Посты в социальных сетях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ru-RU" dirty="0">
                <a:latin typeface="Helvetica Neue" panose="02000503000000020004" pitchFamily="2" charset="0"/>
              </a:rPr>
              <a:t>Тексты на сайте</a:t>
            </a:r>
            <a:endParaRPr lang="ru-RU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78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4DDE2-7197-6CC8-E5C8-D7F35B15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дайджест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58F07-13C4-A935-747C-EDB7FFE5F37A}"/>
              </a:ext>
            </a:extLst>
          </p:cNvPr>
          <p:cNvSpPr txBox="1"/>
          <p:nvPr/>
        </p:nvSpPr>
        <p:spPr>
          <a:xfrm>
            <a:off x="2231136" y="2372497"/>
            <a:ext cx="7729728" cy="175432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r>
              <a:rPr lang="ru-RU" dirty="0">
                <a:latin typeface="Helvetica Neue" panose="02000503000000020004" pitchFamily="2" charset="0"/>
              </a:rPr>
              <a:t>К</a:t>
            </a:r>
            <a:r>
              <a:rPr lang="ru-RU" dirty="0">
                <a:effectLst/>
                <a:latin typeface="Helvetica Neue" panose="02000503000000020004" pitchFamily="2" charset="0"/>
              </a:rPr>
              <a:t>оличество публикаций – </a:t>
            </a:r>
            <a:r>
              <a:rPr lang="en-GB" dirty="0">
                <a:effectLst/>
                <a:latin typeface="Helvetica Neue" panose="02000503000000020004" pitchFamily="2" charset="0"/>
              </a:rPr>
              <a:t>72</a:t>
            </a:r>
            <a:r>
              <a:rPr lang="ru-RU" dirty="0">
                <a:effectLst/>
                <a:latin typeface="Helvetica Neue" panose="02000503000000020004" pitchFamily="2" charset="0"/>
              </a:rPr>
              <a:t>:</a:t>
            </a:r>
          </a:p>
          <a:p>
            <a:r>
              <a:rPr lang="ru-RU" dirty="0">
                <a:effectLst/>
                <a:latin typeface="Helvetica Neue" panose="02000503000000020004" pitchFamily="2" charset="0"/>
              </a:rPr>
              <a:t>Соцсети – </a:t>
            </a:r>
            <a:r>
              <a:rPr lang="ru-RU" dirty="0">
                <a:latin typeface="Helvetica Neue" panose="02000503000000020004" pitchFamily="2" charset="0"/>
              </a:rPr>
              <a:t>3</a:t>
            </a:r>
            <a:r>
              <a:rPr lang="en-GB" dirty="0">
                <a:latin typeface="Helvetica Neue" panose="02000503000000020004" pitchFamily="2" charset="0"/>
              </a:rPr>
              <a:t>9</a:t>
            </a:r>
            <a:r>
              <a:rPr lang="ru-RU" dirty="0"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СМИ – </a:t>
            </a:r>
            <a:r>
              <a:rPr lang="en-GB" dirty="0">
                <a:latin typeface="Helvetica Neue" panose="02000503000000020004" pitchFamily="2" charset="0"/>
              </a:rPr>
              <a:t>33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r>
              <a:rPr lang="ru-RU" dirty="0">
                <a:latin typeface="Helvetica Neue" panose="02000503000000020004" pitchFamily="2" charset="0"/>
              </a:rPr>
              <a:t>Количество аккредитаций – 2</a:t>
            </a:r>
          </a:p>
          <a:p>
            <a:r>
              <a:rPr lang="ru-RU" dirty="0">
                <a:latin typeface="Helvetica Neue" panose="02000503000000020004" pitchFamily="2" charset="0"/>
              </a:rPr>
              <a:t>Охват – 2,7 млн (на основе данных Медиалогии)</a:t>
            </a:r>
          </a:p>
          <a:p>
            <a:r>
              <a:rPr lang="ru-RU" dirty="0">
                <a:latin typeface="Helvetica Neue" panose="02000503000000020004" pitchFamily="2" charset="0"/>
              </a:rPr>
              <a:t>Количество </a:t>
            </a:r>
            <a:r>
              <a:rPr lang="ru-RU" dirty="0" err="1">
                <a:latin typeface="Helvetica Neue" panose="02000503000000020004" pitchFamily="2" charset="0"/>
              </a:rPr>
              <a:t>высокоцитируемых</a:t>
            </a:r>
            <a:r>
              <a:rPr lang="ru-RU" dirty="0">
                <a:latin typeface="Helvetica Neue" panose="02000503000000020004" pitchFamily="2" charset="0"/>
              </a:rPr>
              <a:t> изданий – 4 (МК, 360, РИАМО, </a:t>
            </a:r>
            <a:r>
              <a:rPr lang="en-GB" dirty="0" err="1">
                <a:latin typeface="Helvetica Neue" panose="02000503000000020004" pitchFamily="2" charset="0"/>
              </a:rPr>
              <a:t>REGIONS.ru</a:t>
            </a:r>
            <a:r>
              <a:rPr lang="ru-RU" dirty="0">
                <a:latin typeface="Helvetica Neue" panose="02000503000000020004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908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9C08A-3FEE-DCCB-BFA6-BFAC83F9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Пресс и пост-релизы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042255-8896-4F4A-5D96-EB467851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260" y="2324953"/>
            <a:ext cx="3032842" cy="43229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84920E-5AD3-F55A-B70F-F6F117D76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26" y="2324953"/>
            <a:ext cx="2992314" cy="432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3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8D379-CB5C-18EB-E500-A2E91B00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Публикации в сми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C09BE7-DBB9-02C5-502F-CF6F1DAA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71" y="2395465"/>
            <a:ext cx="2887506" cy="43077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0B6559-1B4A-C3FB-A456-37563C4D4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689" y="2395465"/>
            <a:ext cx="2584622" cy="430770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A6B700-63C4-EC26-93CF-C5539D026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523" y="2395466"/>
            <a:ext cx="2934621" cy="430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9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B5168-544D-3346-F601-294C8D17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Публикации в соцсетях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AAC3A1-E10E-29BF-9654-D828EB23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067" y="2409567"/>
            <a:ext cx="3869866" cy="41765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B158BE-0F2B-D5DC-9DF2-24F3B531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22" y="2409568"/>
            <a:ext cx="2538579" cy="41765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2FAAD6-5FAF-075A-2AA4-423859B8B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599" y="2409567"/>
            <a:ext cx="2753936" cy="417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20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31EBC5C-4735-AC48-F074-1CF83F97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сми и сайты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B0552-0D58-1C0B-C0BD-72FA0BB057A3}"/>
              </a:ext>
            </a:extLst>
          </p:cNvPr>
          <p:cNvSpPr txBox="1"/>
          <p:nvPr/>
        </p:nvSpPr>
        <p:spPr>
          <a:xfrm>
            <a:off x="2231135" y="2328864"/>
            <a:ext cx="7729727" cy="424731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  <a:ln>
            <a:noFill/>
          </a:ln>
        </p:spPr>
        <p:txBody>
          <a:bodyPr wrap="square">
            <a:spAutoFit/>
          </a:bodyPr>
          <a:lstStyle/>
          <a:p>
            <a:r>
              <a:rPr lang="en-GB" u="sng" dirty="0">
                <a:effectLst/>
                <a:latin typeface="Helvetica Neue" panose="020005030000000200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https://admhimki.ru/novosti/:id75809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https://himki-gazeta.ru/?module=articles&amp;action=view&amp;id=26464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https://pro-himki.ru/news/0267491-v-himkah-projdyot-festival-nastolnogo-tennisa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https://himki.bezformata.com/listnews/nastolnogo-tennisa/153351341/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https://news-balashiha.ru/society/2025/11/19/285353.html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https://himki.bezformata.com/listnews/nastolnogo-tennisa/153557527/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https://podmoskovye.bezformata.com/listnews/himkah-organizuyut/153437743/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https://myseldon.com/ru/news/index/338164485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https://myseldon.com/ru/news/index/338106910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https://himki-24.ru/ot-raketki-do-medali-kak-himki-stanoviatsia-stolicei-nastolnogo-tennisa-podmoskovia/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https://himki-24.ru/zvezdy-sporta-priehali-podderjat-ychastnikov-festivalia-nastolnogo-tennisa/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14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2636A-20EA-E842-7EDE-E3CC2C86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сми и сайты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D4ACC-D73B-A4CA-DB02-D1CD4BF47539}"/>
              </a:ext>
            </a:extLst>
          </p:cNvPr>
          <p:cNvSpPr txBox="1"/>
          <p:nvPr/>
        </p:nvSpPr>
        <p:spPr>
          <a:xfrm>
            <a:off x="2231136" y="2314576"/>
            <a:ext cx="7729728" cy="424731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  <a:ln>
            <a:noFill/>
          </a:ln>
        </p:spPr>
        <p:txBody>
          <a:bodyPr wrap="square">
            <a:spAutoFit/>
          </a:bodyPr>
          <a:lstStyle/>
          <a:p>
            <a:r>
              <a:rPr lang="en-GB" u="sng" dirty="0">
                <a:effectLst/>
                <a:latin typeface="Helvetica Neue" panose="020005030000000200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https://riamo.ru/news/transport/v-himkah-otkrojut-bazu-dlja-trenirovok-sbornoj-podmoskovja-po-nastolnomu-tennisu/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https://riamo.ru/news/sport/v-himkah-projdet-festival-nastolnogo-tennisa/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https://360.ru/news/mosobl/festival-nastolnogo-tennisa-projdet-v-himkah-22-nojabrja/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https://mosregtoday.ru/news/ofitsialno/v-podmoskovnyh-himkah-organizujut-festival-nastolnogo-tennisa/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https://regions.ru/khimki/fizicheskaya-kultura-i-sport/ot-raketki-do-medali-kak-himki-stanovyatsya-stolitsey-nastolnogo-tennisa-podmoskovya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https://regions.ru/khimki/fizicheskaya-kultura-i-sport/zvezdy-sporta-priehali-podderzhat-uchastnikov-festivalya-nastolnogo-tennisa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https://mediabankmo.ru/blog.php?idinfo=86335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https://mediabankmo.ru/blog.php?idinfo=86329</a:t>
            </a:r>
            <a:r>
              <a:rPr lang="ru-RU" u="sng" dirty="0">
                <a:effectLst/>
                <a:latin typeface="Helvetica Neue" panose="02000503000000020004" pitchFamily="2" charset="0"/>
              </a:rPr>
              <a:t> </a:t>
            </a:r>
            <a:endParaRPr lang="en-GB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253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D9FC3-72E3-8F8A-6B03-A75552DE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сми и сайты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F77EF-28D1-1027-3090-D7B18FA0A3A9}"/>
              </a:ext>
            </a:extLst>
          </p:cNvPr>
          <p:cNvSpPr txBox="1"/>
          <p:nvPr/>
        </p:nvSpPr>
        <p:spPr>
          <a:xfrm>
            <a:off x="2231136" y="2310063"/>
            <a:ext cx="7729728" cy="424731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r>
              <a:rPr lang="ru-RU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https://ttfr.ru/news/3570</a:t>
            </a:r>
            <a:endParaRPr lang="ru-RU" dirty="0"/>
          </a:p>
          <a:p>
            <a:r>
              <a:rPr lang="en-GB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https://radio1.ru/news/podmoskove/2000-chelovek-prisoedinilis-k-festivalyu-nastolnogo-tennisa-v-mege-himki/</a:t>
            </a:r>
            <a:endParaRPr lang="ru-RU" dirty="0"/>
          </a:p>
          <a:p>
            <a:r>
              <a:rPr lang="en-GB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https://regions.ru/khimki/fizicheskaya-kultura-i-sport/master-klassy-i-lyubitelskie-turniry-v-mege-himki-festival-nastolnogo-tennisa-sobral-tysyachi-gostey</a:t>
            </a:r>
            <a:endParaRPr lang="ru-RU" dirty="0"/>
          </a:p>
          <a:p>
            <a:r>
              <a:rPr lang="en-GB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https://sportvmoskve.ru/news/20251125-festival-nastolnogo-tennisa-sobral-bolee-2000-chelovek-v-mege-himki/</a:t>
            </a:r>
            <a:endParaRPr lang="ru-RU" dirty="0"/>
          </a:p>
          <a:p>
            <a:r>
              <a:rPr lang="en-GB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https://riamo.ru/news/sport/bolee-2-tys-gostej-sobral-festival-nastolnogo-tennisa-v-himkah/</a:t>
            </a:r>
            <a:endParaRPr lang="ru-RU" dirty="0"/>
          </a:p>
          <a:p>
            <a:r>
              <a:rPr lang="en-GB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https://moscow.media/himki/415848815/</a:t>
            </a:r>
            <a:endParaRPr lang="ru-RU" dirty="0"/>
          </a:p>
          <a:p>
            <a:r>
              <a:rPr lang="en-GB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https://mosregtoday.ru/news/ofitsialno/v-podmoskovnyh-himkah-proveli-festival-nastolnogo-tennisa/</a:t>
            </a:r>
            <a:endParaRPr lang="ru-RU" dirty="0"/>
          </a:p>
          <a:p>
            <a:r>
              <a:rPr lang="en-GB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https://podmoskovye.bezformata.com/listnews/nastolnogo-tennisa/153677098/</a:t>
            </a:r>
            <a:endParaRPr lang="ru-RU" dirty="0"/>
          </a:p>
          <a:p>
            <a:r>
              <a:rPr lang="en-GB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https://www.mk.ru/mosobl/2025/11/26/v-podmoskove-proshel-festival-nastolnogo-tennisa-v-ramkakh-programmy-sport-rossii.html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391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6A98D-34FA-8850-BC94-E44AB861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сми и сайты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03F3F-2545-44D9-09B4-BFE8A23CDF29}"/>
              </a:ext>
            </a:extLst>
          </p:cNvPr>
          <p:cNvSpPr txBox="1"/>
          <p:nvPr/>
        </p:nvSpPr>
        <p:spPr>
          <a:xfrm>
            <a:off x="2231136" y="2326105"/>
            <a:ext cx="7729728" cy="20313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r>
              <a:rPr lang="ru-RU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https://himki-logach.ru/obshchestvo/v-podmoskove-proshel-festival-nastolnogo-tennisa-v-ramkah-programmy-sport-rossii.html</a:t>
            </a:r>
            <a:endParaRPr lang="ru-RU" dirty="0"/>
          </a:p>
          <a:p>
            <a:r>
              <a:rPr lang="en-GB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https://nia-rf.ru/news/sport/113896</a:t>
            </a:r>
            <a:endParaRPr lang="ru-RU" dirty="0"/>
          </a:p>
          <a:p>
            <a:r>
              <a:rPr lang="en-GB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https://360.ru/news/mosobl/bolee-2-tysjach-chelovek-posetili-festival-nastolnogo-tennisa-v-himkah/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7269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55707-F41B-2DEC-631D-36C39347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соцсети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D935B-04FE-BB8C-9D3D-610C7216E3E7}"/>
              </a:ext>
            </a:extLst>
          </p:cNvPr>
          <p:cNvSpPr txBox="1"/>
          <p:nvPr/>
        </p:nvSpPr>
        <p:spPr>
          <a:xfrm>
            <a:off x="2231135" y="2371725"/>
            <a:ext cx="7729727" cy="424731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  <a:ln>
            <a:noFill/>
          </a:ln>
        </p:spPr>
        <p:txBody>
          <a:bodyPr wrap="square">
            <a:spAutoFit/>
          </a:bodyPr>
          <a:lstStyle/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/wall702814589_6653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zhk_solnechnaya_sistema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/3555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/c/2408593488/6082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nashe_mesto_mega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/3338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/wall-227150450_27924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/wall-227124181_28042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/wall-227124181_27578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lyubimyekhimki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/89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lyubimyekhimki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/131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/wall-169362676_640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msk_photomashka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/4457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http://vk.com/wall-224213230_29988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effectLst/>
                <a:latin typeface="Helvetica Neue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https://dzen.ru/a/aSWFI1JLY2cMuKLw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effectLst/>
                <a:latin typeface="Helvetica Neue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https://dzen.ru/a/aSWIZVJLY2cMuUSD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</a:p>
          <a:p>
            <a:endParaRPr lang="en-GB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307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BEFD0-B3B8-B76A-84A2-2D71D835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соцсети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B8467-6CC3-7228-6C9F-13276041AF6D}"/>
              </a:ext>
            </a:extLst>
          </p:cNvPr>
          <p:cNvSpPr txBox="1"/>
          <p:nvPr/>
        </p:nvSpPr>
        <p:spPr>
          <a:xfrm>
            <a:off x="2231136" y="2400301"/>
            <a:ext cx="7729728" cy="397031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/wall-119331592_39204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/wall-119331592_39202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/wall-115588309_41369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/wall-123743593_21367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moscow_dla_was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/19438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/wall-165772128_50330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/wall-165772128_50413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/wall-101599125_38739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/clip-101599125_456244790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ttfrus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/12075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ttfrus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/12021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https://telegram.me/c/2287081879/2552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dirty="0">
                <a:effectLst/>
                <a:latin typeface="Helvetica Neue" panose="02000503000000020004" pitchFamily="2" charset="0"/>
              </a:rPr>
              <a:t>/wall-103433258_57626</a:t>
            </a:r>
          </a:p>
          <a:p>
            <a:r>
              <a:rPr lang="ru-RU" dirty="0" err="1"/>
              <a:t>http</a:t>
            </a:r>
            <a:r>
              <a:rPr lang="ru-RU" dirty="0"/>
              <a:t>://</a:t>
            </a:r>
            <a:r>
              <a:rPr lang="ru-RU" dirty="0" err="1"/>
              <a:t>vk.com</a:t>
            </a:r>
            <a:r>
              <a:rPr lang="ru-RU" dirty="0"/>
              <a:t>/wall-115588309_41388</a:t>
            </a:r>
          </a:p>
        </p:txBody>
      </p:sp>
    </p:spTree>
    <p:extLst>
      <p:ext uri="{BB962C8B-B14F-4D97-AF65-F5344CB8AC3E}">
        <p14:creationId xmlns:p14="http://schemas.microsoft.com/office/powerpoint/2010/main" val="246413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23226-0907-9D06-52B7-BAA3A047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соцсети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E554C-AA58-28CB-48D6-C2A5D0F549CB}"/>
              </a:ext>
            </a:extLst>
          </p:cNvPr>
          <p:cNvSpPr txBox="1"/>
          <p:nvPr/>
        </p:nvSpPr>
        <p:spPr>
          <a:xfrm>
            <a:off x="2231136" y="2371725"/>
            <a:ext cx="7729728" cy="397031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BAD9">
                  <a:alpha val="63152"/>
                </a:srgb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mega_khimki_life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/6141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ttfrmedia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/5132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/c/2338272306/2015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http://vk.com/wall-12806002_26760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/wall-55319752_22759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/wall-103433258_57340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https://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telegram.me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/himki360/14240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https://telegram.me/mega_khimki_life/6150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http://vk.com/wall-123743593_21774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https://himki-24.ru/master-klassy-i-lubitelskie-tyrniry-v-mege-himki-festival-nastolnogo-tennisa-sobral-tysiachi-gostei/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https://himki.bezformata.com/listnews/nastolnogo-tennisa/153649130/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http://vk.com/wall-169362676_645</a:t>
            </a:r>
            <a:endParaRPr lang="ru-RU" u="sng" dirty="0">
              <a:effectLst/>
              <a:latin typeface="Helvetica Neue" panose="02000503000000020004" pitchFamily="2" charset="0"/>
            </a:endParaRPr>
          </a:p>
          <a:p>
            <a:r>
              <a:rPr lang="en-GB" u="sng" dirty="0">
                <a:effectLst/>
                <a:latin typeface="Helvetica Neue" panose="02000503000000020004" pitchFamily="2" charset="0"/>
              </a:rPr>
              <a:t>http://</a:t>
            </a:r>
            <a:r>
              <a:rPr lang="en-GB" u="sng" dirty="0" err="1">
                <a:effectLst/>
                <a:latin typeface="Helvetica Neue" panose="02000503000000020004" pitchFamily="2" charset="0"/>
              </a:rPr>
              <a:t>vk.com</a:t>
            </a:r>
            <a:r>
              <a:rPr lang="en-GB" u="sng" dirty="0">
                <a:effectLst/>
                <a:latin typeface="Helvetica Neue" panose="02000503000000020004" pitchFamily="2" charset="0"/>
              </a:rPr>
              <a:t>/wall-165772128_50450</a:t>
            </a:r>
            <a:endParaRPr lang="ru-RU" u="sng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508721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{4BE565D3-320E-5E46-88D3-2F5658C17DA0}tf10001120</Template>
  <TotalTime>101</TotalTime>
  <Words>840</Words>
  <Application>Microsoft Macintosh PowerPoint</Application>
  <PresentationFormat>Широкоэкранный</PresentationFormat>
  <Paragraphs>97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Corbel</vt:lpstr>
      <vt:lpstr>Gill Sans MT</vt:lpstr>
      <vt:lpstr>Helvetica Neue</vt:lpstr>
      <vt:lpstr>Wingdings</vt:lpstr>
      <vt:lpstr>Посылка</vt:lpstr>
      <vt:lpstr>Дайджест мега</vt:lpstr>
      <vt:lpstr>Инструменты продвижения</vt:lpstr>
      <vt:lpstr>дайджест</vt:lpstr>
      <vt:lpstr>Пресс и пост-релизы</vt:lpstr>
      <vt:lpstr>Публикации в сми</vt:lpstr>
      <vt:lpstr>Публикации в соцсетях</vt:lpstr>
      <vt:lpstr>Ссылки сми и сайты</vt:lpstr>
      <vt:lpstr>Ссылки сми и сайты</vt:lpstr>
      <vt:lpstr>Ссылки сми и сайты</vt:lpstr>
      <vt:lpstr>Ссылки сми и сайты</vt:lpstr>
      <vt:lpstr>Ссылки соцсети</vt:lpstr>
      <vt:lpstr>Ссылки соцсети</vt:lpstr>
      <vt:lpstr>Ссылки соцсети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Лиза Курилова</dc:creator>
  <cp:lastModifiedBy>Лиза Курилова</cp:lastModifiedBy>
  <cp:revision>5</cp:revision>
  <dcterms:created xsi:type="dcterms:W3CDTF">2025-12-01T17:06:23Z</dcterms:created>
  <dcterms:modified xsi:type="dcterms:W3CDTF">2025-12-01T21:10:34Z</dcterms:modified>
</cp:coreProperties>
</file>